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handoutMasterIdLst>
    <p:handoutMasterId r:id="rId14"/>
  </p:handoutMasterIdLst>
  <p:sldIdLst>
    <p:sldId id="292" r:id="rId5"/>
    <p:sldId id="299" r:id="rId6"/>
    <p:sldId id="297" r:id="rId7"/>
    <p:sldId id="261" r:id="rId8"/>
    <p:sldId id="298" r:id="rId9"/>
    <p:sldId id="279" r:id="rId10"/>
    <p:sldId id="276" r:id="rId11"/>
    <p:sldId id="289"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839" autoAdjust="0"/>
  </p:normalViewPr>
  <p:slideViewPr>
    <p:cSldViewPr snapToGrid="0" showGuides="1">
      <p:cViewPr varScale="1">
        <p:scale>
          <a:sx n="79" d="100"/>
          <a:sy n="79" d="100"/>
        </p:scale>
        <p:origin x="1014" y="90"/>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5/25/2026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5/25/2026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53" r:id="rId9"/>
    <p:sldLayoutId id="2147483663" r:id="rId10"/>
    <p:sldLayoutId id="2147483665" r:id="rId11"/>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hyperlink" Target="mailto:rjeezel35@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lstStyle/>
          <a:p>
            <a:r>
              <a:rPr lang="en-US" altLang="zh-CN" dirty="0"/>
              <a:t>HR DISTRIBUTION  </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a:t> REAGAN JAGG</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transition spd="slow" advClick="0" advTm="3000">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2743200" cy="2377440"/>
          </a:xfrm>
        </p:spPr>
        <p:txBody>
          <a:bodyPr anchor="t" anchorCtr="0"/>
          <a:lstStyle/>
          <a:p>
            <a:r>
              <a:rPr lang="en-US" dirty="0"/>
              <a:t>OBJECTIVE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3657600" y="3429000"/>
            <a:ext cx="7536569" cy="2471928"/>
          </a:xfrm>
        </p:spPr>
        <p:txBody>
          <a:bodyPr anchor="t" anchorCtr="0">
            <a:normAutofit lnSpcReduction="10000"/>
          </a:bodyPr>
          <a:lstStyle/>
          <a:p>
            <a:pPr marL="0" indent="0">
              <a:buNone/>
            </a:pPr>
            <a:r>
              <a:rPr lang="en-US" dirty="0"/>
              <a:t>To analyze employee distribution, movement, experience, and departmental performance using HR data columns such as Employee Status, Movement, Department, Grade, and Total Experience.</a:t>
            </a:r>
          </a:p>
          <a:p>
            <a:pPr marL="0" indent="0">
              <a:buNone/>
            </a:pPr>
            <a:endParaRPr lang="en-US" dirty="0"/>
          </a:p>
          <a:p>
            <a:pPr marL="0" indent="0">
              <a:buNone/>
            </a:pPr>
            <a:r>
              <a:rPr lang="en-US" dirty="0"/>
              <a:t>To create interactive dashboards for monitoring workforce stability, employee types, marital status, age groups, and reporting structure to support effective HR decision-making.</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transition spd="slow" advTm="3000">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449824" y="97536"/>
            <a:ext cx="5577840" cy="1938528"/>
          </a:xfrm>
        </p:spPr>
        <p:txBody>
          <a:bodyPr lIns="0" anchor="b" anchorCtr="0"/>
          <a:lstStyle/>
          <a:p>
            <a:r>
              <a:rPr lang="en-US" dirty="0"/>
              <a:t>DATA COLLECTION </a:t>
            </a:r>
            <a:br>
              <a:rPr lang="en-US" dirty="0"/>
            </a:br>
            <a:r>
              <a:rPr lang="en-US" dirty="0"/>
              <a:t>DATA CLEANING PREPARATION</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4596384" y="2036064"/>
            <a:ext cx="7595616" cy="2389632"/>
          </a:xfrm>
        </p:spPr>
        <p:txBody>
          <a:bodyPr/>
          <a:lstStyle/>
          <a:p>
            <a:r>
              <a:rPr lang="en-US" b="1" dirty="0"/>
              <a:t>Short Summary</a:t>
            </a:r>
          </a:p>
          <a:p>
            <a:r>
              <a:rPr lang="en-US" dirty="0"/>
              <a:t>The HR Distribution dataset was collected from employee records and HR management systems to analyze workforce demographics and employee distribution. The data was cleaned by handling missing values, removing duplicates, correcting inconsistencies, and validating data quality. After preparation, the cleaned dataset was imported into </a:t>
            </a:r>
            <a:r>
              <a:rPr lang="en-US" b="1" dirty="0"/>
              <a:t>Microsoft Power BI</a:t>
            </a:r>
            <a:r>
              <a:rPr lang="en-US" dirty="0"/>
              <a:t> for analysis and visualization, ensuring accurate and reliable HR insights.</a:t>
            </a:r>
          </a:p>
          <a:p>
            <a:endParaRPr lang="en-US" dirty="0"/>
          </a:p>
        </p:txBody>
      </p:sp>
    </p:spTree>
    <p:extLst>
      <p:ext uri="{BB962C8B-B14F-4D97-AF65-F5344CB8AC3E}">
        <p14:creationId xmlns:p14="http://schemas.microsoft.com/office/powerpoint/2010/main" val="3530111904"/>
      </p:ext>
    </p:extLst>
  </p:cSld>
  <p:clrMapOvr>
    <a:masterClrMapping/>
  </p:clrMapOvr>
  <p:transition spd="slow" advTm="3000">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US" dirty="0"/>
              <a:t> DATA ANALYSIS PROCESS</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217920" y="2572512"/>
            <a:ext cx="5974080" cy="3297936"/>
          </a:xfrm>
          <a:noFill/>
        </p:spPr>
        <p:txBody>
          <a:bodyPr>
            <a:normAutofit/>
          </a:bodyPr>
          <a:lstStyle/>
          <a:p>
            <a:r>
              <a:rPr lang="en-US" dirty="0"/>
              <a:t>The HR Distribution analysis began with collecting employee data from HR records and systems. The data was cleaned by removing duplicates, handling missing values, and correcting inconsistencies to ensure accuracy. The cleaned data was then analyzed in </a:t>
            </a:r>
            <a:r>
              <a:rPr lang="en-US" b="1" dirty="0"/>
              <a:t>Microsoft Power BI</a:t>
            </a:r>
            <a:r>
              <a:rPr lang="en-US" dirty="0"/>
              <a:t> to examine workforce distribution across departments, locations, age groups, and genders. Visualizations were created to identify patterns and trends, providing valuable insights that support HR planning, workforce management, and informed decision-making.</a:t>
            </a:r>
          </a:p>
          <a:p>
            <a:pPr marL="0" indent="0">
              <a:buNone/>
            </a:pPr>
            <a:endParaRPr lang="en-US" dirty="0"/>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666674671"/>
      </p:ext>
    </p:extLst>
  </p:cSld>
  <p:clrMapOvr>
    <a:masterClrMapping/>
  </p:clrMapOvr>
  <p:transition spd="slow" advTm="3000">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0" y="109728"/>
            <a:ext cx="4846320" cy="609600"/>
          </a:xfrm>
        </p:spPr>
        <p:txBody>
          <a:bodyPr lIns="0" anchor="b" anchorCtr="0">
            <a:normAutofit fontScale="90000"/>
          </a:bodyPr>
          <a:lstStyle/>
          <a:p>
            <a:r>
              <a:rPr lang="en-US" dirty="0"/>
              <a:t>DATA VISUALIZATION </a:t>
            </a:r>
          </a:p>
        </p:txBody>
      </p:sp>
      <p:pic>
        <p:nvPicPr>
          <p:cNvPr id="13" name="Content Placeholder 12">
            <a:extLst>
              <a:ext uri="{FF2B5EF4-FFF2-40B4-BE49-F238E27FC236}">
                <a16:creationId xmlns:a16="http://schemas.microsoft.com/office/drawing/2014/main" id="{2D3C27C7-8018-FC88-B92C-5EE685A814CE}"/>
              </a:ext>
            </a:extLst>
          </p:cNvPr>
          <p:cNvPicPr>
            <a:picLocks noGrp="1" noChangeAspect="1"/>
          </p:cNvPicPr>
          <p:nvPr>
            <p:ph idx="1"/>
          </p:nvPr>
        </p:nvPicPr>
        <p:blipFill>
          <a:blip r:embed="rId2"/>
          <a:stretch>
            <a:fillRect/>
          </a:stretch>
        </p:blipFill>
        <p:spPr>
          <a:xfrm>
            <a:off x="0" y="719329"/>
            <a:ext cx="12192000" cy="6138672"/>
          </a:xfrm>
          <a:prstGeom prst="rect">
            <a:avLst/>
          </a:prstGeom>
        </p:spPr>
      </p:pic>
      <p:sp>
        <p:nvSpPr>
          <p:cNvPr id="14" name="Slide Number Placeholder 4">
            <a:extLst>
              <a:ext uri="{FF2B5EF4-FFF2-40B4-BE49-F238E27FC236}">
                <a16:creationId xmlns:a16="http://schemas.microsoft.com/office/drawing/2014/main" id="{2F458F39-09F0-5E32-7136-F5B1CA154742}"/>
              </a:ext>
            </a:extLst>
          </p:cNvPr>
          <p:cNvSpPr>
            <a:spLocks noGrp="1"/>
          </p:cNvSpPr>
          <p:nvPr>
            <p:ph type="sldNum" sz="quarter" idx="53"/>
          </p:nvPr>
        </p:nvSpPr>
        <p:spPr>
          <a:xfrm>
            <a:off x="11194169" y="6217920"/>
            <a:ext cx="458592" cy="365125"/>
          </a:xfrm>
        </p:spPr>
        <p:txBody>
          <a:bodyPr/>
          <a:lstStyle/>
          <a:p>
            <a:pPr>
              <a:spcAft>
                <a:spcPts val="600"/>
              </a:spcAft>
            </a:pPr>
            <a:fld id="{47FEACEE-25B4-4A2D-B147-27296E36371D}" type="slidenum">
              <a:rPr lang="en-US" altLang="zh-CN" noProof="0" smtClean="0"/>
              <a:pPr>
                <a:spcAft>
                  <a:spcPts val="600"/>
                </a:spcAft>
              </a:pPr>
              <a:t>5</a:t>
            </a:fld>
            <a:endParaRPr lang="en-US" altLang="zh-CN" noProof="0"/>
          </a:p>
        </p:txBody>
      </p:sp>
    </p:spTree>
    <p:extLst>
      <p:ext uri="{BB962C8B-B14F-4D97-AF65-F5344CB8AC3E}">
        <p14:creationId xmlns:p14="http://schemas.microsoft.com/office/powerpoint/2010/main" val="2735087570"/>
      </p:ext>
    </p:extLst>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731520"/>
            <a:ext cx="4663440" cy="1737360"/>
          </a:xfrm>
        </p:spPr>
        <p:txBody>
          <a:bodyPr/>
          <a:lstStyle/>
          <a:p>
            <a:r>
              <a:rPr lang="en-US" dirty="0"/>
              <a:t>KEY INSIGHT AND FINDING </a:t>
            </a:r>
          </a:p>
        </p:txBody>
      </p:sp>
      <p:sp>
        <p:nvSpPr>
          <p:cNvPr id="10" name="Content Placeholder 9">
            <a:extLst>
              <a:ext uri="{FF2B5EF4-FFF2-40B4-BE49-F238E27FC236}">
                <a16:creationId xmlns:a16="http://schemas.microsoft.com/office/drawing/2014/main" id="{633B199B-AFAF-FCA4-CEA7-D9E73D7079E5}"/>
              </a:ext>
            </a:extLst>
          </p:cNvPr>
          <p:cNvSpPr>
            <a:spLocks noGrp="1"/>
          </p:cNvSpPr>
          <p:nvPr>
            <p:ph idx="1"/>
          </p:nvPr>
        </p:nvSpPr>
        <p:spPr>
          <a:xfrm>
            <a:off x="0" y="2633472"/>
            <a:ext cx="11338560" cy="2414016"/>
          </a:xfrm>
        </p:spPr>
        <p:txBody>
          <a:bodyPr>
            <a:normAutofit/>
          </a:bodyPr>
          <a:lstStyle/>
          <a:p>
            <a:r>
              <a:rPr lang="en-US" dirty="0"/>
              <a:t>The HR Distribution analysis showed that employees are primarily concentrated in key departments and fall within the active working-age group. The workforce demonstrates varying distributions across gender and locations, providing insights into organizational diversity and staffing patterns. These findings help support workforce planning, resource allocation, and informed HR decision-making.</a:t>
            </a:r>
          </a:p>
          <a:p>
            <a:pPr marL="0" indent="0">
              <a:buNone/>
            </a:pPr>
            <a:endParaRPr lang="en-US" dirty="0"/>
          </a:p>
        </p:txBody>
      </p:sp>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6</a:t>
            </a:fld>
            <a:endParaRPr lang="en-US" altLang="zh-CN" noProof="0" dirty="0"/>
          </a:p>
        </p:txBody>
      </p:sp>
    </p:spTree>
    <p:extLst>
      <p:ext uri="{BB962C8B-B14F-4D97-AF65-F5344CB8AC3E}">
        <p14:creationId xmlns:p14="http://schemas.microsoft.com/office/powerpoint/2010/main" val="1246021298"/>
      </p:ext>
    </p:extLst>
  </p:cSld>
  <p:clrMapOvr>
    <a:masterClrMapping/>
  </p:clrMapOvr>
  <p:transition spd="slow" advTm="3000">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0" y="731520"/>
            <a:ext cx="4846320" cy="463296"/>
          </a:xfrm>
        </p:spPr>
        <p:txBody>
          <a:bodyPr anchor="b" anchorCtr="0">
            <a:normAutofit fontScale="90000"/>
          </a:bodyPr>
          <a:lstStyle/>
          <a:p>
            <a:r>
              <a:rPr lang="en-US" altLang="zh-CN" dirty="0"/>
              <a:t>RECOMMENDATION AND CONCLUSION </a:t>
            </a:r>
            <a:br>
              <a:rPr lang="en-US" altLang="zh-CN" dirty="0"/>
            </a:br>
            <a:endParaRPr lang="en-US" dirty="0"/>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97536" y="3108960"/>
            <a:ext cx="5647466" cy="2651760"/>
          </a:xfrm>
        </p:spPr>
        <p:txBody>
          <a:bodyPr>
            <a:normAutofit fontScale="25000" lnSpcReduction="20000"/>
          </a:bodyPr>
          <a:lstStyle/>
          <a:p>
            <a:r>
              <a:rPr lang="en-US" sz="7200" b="1" dirty="0"/>
              <a:t>Recommendations</a:t>
            </a:r>
          </a:p>
          <a:p>
            <a:r>
              <a:rPr lang="en-US" sz="5600" b="1" dirty="0"/>
              <a:t>Improve workforce planning by balancing employee distribution across departments. </a:t>
            </a:r>
          </a:p>
          <a:p>
            <a:r>
              <a:rPr lang="en-US" sz="5600" b="1" dirty="0"/>
              <a:t>Promote diversity and inclusion initiatives where needed. </a:t>
            </a:r>
          </a:p>
          <a:p>
            <a:r>
              <a:rPr lang="en-US" sz="5600" b="1" dirty="0"/>
              <a:t>Monitor workforce trends regularly to support effective HR decision-making. </a:t>
            </a:r>
          </a:p>
          <a:p>
            <a:r>
              <a:rPr lang="en-US" sz="5600" b="1" dirty="0"/>
              <a:t>Invest in employee development and retention programs. </a:t>
            </a:r>
          </a:p>
          <a:p>
            <a:r>
              <a:rPr lang="en-US" sz="7200" b="1" dirty="0"/>
              <a:t>Conclusion</a:t>
            </a:r>
          </a:p>
          <a:p>
            <a:r>
              <a:rPr lang="en-US" sz="5600" b="1" dirty="0"/>
              <a:t>The HR Distribution project provided a clear understanding of the organization's workforce composition. The insights gained can help improve staffing strategies, resource allocation, and overall human resource management, leading to more informed business decisions.</a:t>
            </a:r>
          </a:p>
          <a:p>
            <a:pPr marL="0" indent="0">
              <a:buNone/>
            </a:pPr>
            <a:endParaRPr lang="en-US" dirty="0"/>
          </a:p>
        </p:txBody>
      </p:sp>
      <p:pic>
        <p:nvPicPr>
          <p:cNvPr id="12" name="Picture Placeholder 11" descr="Three people having a discussion at a table">
            <a:extLst>
              <a:ext uri="{FF2B5EF4-FFF2-40B4-BE49-F238E27FC236}">
                <a16:creationId xmlns:a16="http://schemas.microsoft.com/office/drawing/2014/main" id="{8C4B5C6A-45B4-1976-622A-4CEB4E3211BC}"/>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7</a:t>
            </a:fld>
            <a:endParaRPr lang="en-US" altLang="zh-CN" noProof="0" dirty="0"/>
          </a:p>
        </p:txBody>
      </p:sp>
    </p:spTree>
    <p:extLst>
      <p:ext uri="{BB962C8B-B14F-4D97-AF65-F5344CB8AC3E}">
        <p14:creationId xmlns:p14="http://schemas.microsoft.com/office/powerpoint/2010/main" val="77554804"/>
      </p:ext>
    </p:extLst>
  </p:cSld>
  <p:clrMapOvr>
    <a:masterClrMapping/>
  </p:clrMapOvr>
  <mc:AlternateContent xmlns:mc="http://schemas.openxmlformats.org/markup-compatibility/2006">
    <mc:Choice xmlns:p14="http://schemas.microsoft.com/office/powerpoint/2010/main" Requires="p14">
      <p:transition spd="slow" p14:dur="3400" advTm="4000">
        <p14:reveal/>
      </p:transition>
    </mc:Choice>
    <mc:Fallback>
      <p:transition spd="slow" advTm="4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9F0114-877B-0BE2-1C94-4BDD374B50F5}"/>
              </a:ext>
            </a:extLst>
          </p:cNvPr>
          <p:cNvPicPr>
            <a:picLocks noChangeAspect="1"/>
          </p:cNvPicPr>
          <p:nvPr/>
        </p:nvPicPr>
        <p:blipFill>
          <a:blip r:embed="rId3"/>
          <a:stretch>
            <a:fillRect/>
          </a:stretch>
        </p:blipFill>
        <p:spPr>
          <a:xfrm>
            <a:off x="7120127" y="0"/>
            <a:ext cx="5071873" cy="6858000"/>
          </a:xfrm>
          <a:prstGeom prst="rect">
            <a:avLst/>
          </a:prstGeom>
        </p:spPr>
      </p:pic>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3243072" y="0"/>
            <a:ext cx="3877055" cy="1109472"/>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3398520" y="1109473"/>
            <a:ext cx="3721607" cy="1621536"/>
          </a:xfrm>
        </p:spPr>
        <p:txBody>
          <a:bodyPr/>
          <a:lstStyle/>
          <a:p>
            <a:r>
              <a:rPr lang="en-US" dirty="0"/>
              <a:t>REAGAN JAGG </a:t>
            </a:r>
          </a:p>
          <a:p>
            <a:pPr lvl="0"/>
            <a:r>
              <a:rPr lang="en-US" dirty="0">
                <a:hlinkClick r:id="rId4"/>
              </a:rPr>
              <a:t>rjeezel35@gmail.com</a:t>
            </a:r>
            <a:endParaRPr lang="en-US" dirty="0"/>
          </a:p>
          <a:p>
            <a:pPr lvl="0"/>
            <a:endParaRPr lang="en-US" dirty="0"/>
          </a:p>
          <a:p>
            <a:endParaRPr lang="en-US" dirty="0"/>
          </a:p>
        </p:txBody>
      </p:sp>
    </p:spTree>
    <p:extLst>
      <p:ext uri="{BB962C8B-B14F-4D97-AF65-F5344CB8AC3E}">
        <p14:creationId xmlns:p14="http://schemas.microsoft.com/office/powerpoint/2010/main" val="529279411"/>
      </p:ext>
    </p:extLst>
  </p:cSld>
  <p:clrMapOvr>
    <a:masterClrMapping/>
  </p:clrMapOvr>
  <p:transition spd="slow" advTm="4000">
    <p:randomBar dir="vert"/>
  </p:transition>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3.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{C88F06E3-71CE-4727-93B9-07095089F2A1}TF63aebcec-8e39-4664-940a-dd6c2f00c54d020a9832_win32-3cdd3ee32610</Template>
  <TotalTime>8693</TotalTime>
  <Words>386</Words>
  <Application>Microsoft Office PowerPoint</Application>
  <PresentationFormat>Widescreen</PresentationFormat>
  <Paragraphs>36</Paragraphs>
  <Slides>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等线</vt:lpstr>
      <vt:lpstr>Abadi</vt:lpstr>
      <vt:lpstr>Arial</vt:lpstr>
      <vt:lpstr>Calibri</vt:lpstr>
      <vt:lpstr>Posterama</vt:lpstr>
      <vt:lpstr>Posterama Text SemiBold</vt:lpstr>
      <vt:lpstr>Custom</vt:lpstr>
      <vt:lpstr>HR DISTRIBUTION  </vt:lpstr>
      <vt:lpstr>OBJECTIVE </vt:lpstr>
      <vt:lpstr>DATA COLLECTION  DATA CLEANING PREPARATION</vt:lpstr>
      <vt:lpstr> DATA ANALYSIS PROCESS</vt:lpstr>
      <vt:lpstr>DATA VISUALIZATION </vt:lpstr>
      <vt:lpstr>KEY INSIGHT AND FINDING </vt:lpstr>
      <vt:lpstr>RECOMMENDATION AND 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reagan</dc:creator>
  <cp:lastModifiedBy>reagan</cp:lastModifiedBy>
  <cp:revision>5</cp:revision>
  <dcterms:created xsi:type="dcterms:W3CDTF">2026-05-25T19:47:41Z</dcterms:created>
  <dcterms:modified xsi:type="dcterms:W3CDTF">2026-05-31T20:41:24Z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